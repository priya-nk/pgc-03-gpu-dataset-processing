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DDF579-C9A7-4F7D-8696-D9F2320D45AD}">
  <a:tblStyle styleId="{DCDDF579-C9A7-4F7D-8696-D9F2320D45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EE1DC9A-19F4-4A45-8B3B-3577AB71E71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dd65b39474e19a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h4dd65b39474e19a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4dd65b39474e19a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878698bd6fc11b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h878698bd6fc11b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h878698bd6fc11b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  <a:defRPr b="1" i="0" sz="3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40080" y="288036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GPU Dataset Processing using CUDA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GPU Dataset Processing using CUDA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40080" y="422240"/>
            <a:ext cx="7863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chemeClr val="dk1"/>
                </a:solidFill>
              </a:rPr>
              <a:t>GPU Dataset Processing using CUDA</a:t>
            </a:r>
            <a:endParaRPr sz="3800">
              <a:solidFill>
                <a:schemeClr val="dk1"/>
              </a:solidFill>
            </a:endParaRPr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40080" y="1804572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b="1" lang="en-US" sz="1600">
                <a:solidFill>
                  <a:schemeClr val="accent2"/>
                </a:solidFill>
              </a:rPr>
              <a:t>Execution time, speedup and memory-transfer overhead: sequential CPU vs. parallel CUDA on an NVIDIA GPU</a:t>
            </a:r>
            <a:endParaRPr b="1" sz="1600">
              <a:solidFill>
                <a:schemeClr val="accent2"/>
              </a:solidFill>
            </a:endParaRPr>
          </a:p>
        </p:txBody>
      </p:sp>
      <p:sp>
        <p:nvSpPr>
          <p:cNvPr id="30" name="Google Shape;30;p6"/>
          <p:cNvSpPr/>
          <p:nvPr/>
        </p:nvSpPr>
        <p:spPr>
          <a:xfrm>
            <a:off x="8138095" y="166813"/>
            <a:ext cx="731400" cy="731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0925" y="349630"/>
            <a:ext cx="365760" cy="365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" name="Google Shape;32;p6"/>
          <p:cNvGraphicFramePr/>
          <p:nvPr/>
        </p:nvGraphicFramePr>
        <p:xfrm>
          <a:off x="1021525" y="282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{DCDDF579-C9A7-4F7D-8696-D9F2320D45AD}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USN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Name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01FE24BCI104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B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Bhagya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01FE24BCI110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Priya N 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01FE24BCI117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Ananya Bhat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01FE24BCI121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Soumya 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Experiment Overview</a:t>
            </a:r>
            <a:endParaRPr sz="2800"/>
          </a:p>
        </p:txBody>
      </p:sp>
      <p:sp>
        <p:nvSpPr>
          <p:cNvPr id="39" name="Google Shape;39;p7"/>
          <p:cNvSpPr/>
          <p:nvPr/>
        </p:nvSpPr>
        <p:spPr>
          <a:xfrm>
            <a:off x="457200" y="1188720"/>
            <a:ext cx="2606040" cy="1737360"/>
          </a:xfrm>
          <a:prstGeom prst="roundRect">
            <a:avLst>
              <a:gd fmla="val 421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4996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/>
        </p:nvSpPr>
        <p:spPr>
          <a:xfrm>
            <a:off x="685800" y="19659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 txBox="1"/>
          <p:nvPr/>
        </p:nvSpPr>
        <p:spPr>
          <a:xfrm>
            <a:off x="685800" y="22860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 Dataset 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3246120" y="1188720"/>
            <a:ext cx="2606040" cy="1737360"/>
          </a:xfrm>
          <a:prstGeom prst="roundRect">
            <a:avLst>
              <a:gd fmla="val 421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3474720" y="137160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2736" y="14996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Mode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3474720" y="22860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CUDA on an NVIDIA GPU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6035040" y="1188720"/>
            <a:ext cx="2606040" cy="1737360"/>
          </a:xfrm>
          <a:prstGeom prst="roundRect">
            <a:avLst>
              <a:gd fmla="val 421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6263640" y="137160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656" y="14996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/>
        </p:nvSpPr>
        <p:spPr>
          <a:xfrm>
            <a:off x="6263640" y="19659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Task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6263640" y="22860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Element-wise operation: Output[i] = Input[i] ×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What we measured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time on 5 dataset sizes, 5 iterations each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time vs. CUDA kernel time vs. total CUDA time (incl. PCIe transfers)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Speedup and result verification for every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Dataset Plan</a:t>
            </a:r>
            <a:endParaRPr sz="2800"/>
          </a:p>
        </p:txBody>
      </p:sp>
      <p:graphicFrame>
        <p:nvGraphicFramePr>
          <p:cNvPr id="63" name="Google Shape;63;p8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{9EE1DC9A-19F4-4A45-8B3B-3577AB71E711}</a:tableStyleId>
              </a:tblPr>
              <a:tblGrid>
                <a:gridCol w="1371600"/>
                <a:gridCol w="2103125"/>
                <a:gridCol w="16459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Run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Elements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Approx. Float Data Size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 (1M)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 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5,000,000 (5M)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 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10,000,000 (10M)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 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20,000,000 (20M)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~80 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50,000,000 (50M)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~200 MB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8"/>
          <p:cNvSpPr/>
          <p:nvPr/>
        </p:nvSpPr>
        <p:spPr>
          <a:xfrm>
            <a:off x="5852160" y="1143000"/>
            <a:ext cx="2834640" cy="2743200"/>
          </a:xfrm>
          <a:prstGeom prst="roundRect">
            <a:avLst>
              <a:gd fmla="val 266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6080760" y="13258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8776" y="14538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/>
          <p:nvPr/>
        </p:nvSpPr>
        <p:spPr>
          <a:xfrm>
            <a:off x="6080760" y="19202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 in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6080760" y="2286000"/>
            <a:ext cx="2468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Single-precision floats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h_input[i] = (float)(i % 1000)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external dataset required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Method &amp; Environment</a:t>
            </a:r>
            <a:endParaRPr sz="2800"/>
          </a:p>
        </p:txBody>
      </p:sp>
      <p:sp>
        <p:nvSpPr>
          <p:cNvPr id="76" name="Google Shape;76;p9"/>
          <p:cNvSpPr/>
          <p:nvPr/>
        </p:nvSpPr>
        <p:spPr>
          <a:xfrm>
            <a:off x="457200" y="1097280"/>
            <a:ext cx="1536192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 txBox="1"/>
          <p:nvPr/>
        </p:nvSpPr>
        <p:spPr>
          <a:xfrm>
            <a:off x="457200" y="109728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 data on host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2121408" y="1097280"/>
            <a:ext cx="1536192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 txBox="1"/>
          <p:nvPr/>
        </p:nvSpPr>
        <p:spPr>
          <a:xfrm>
            <a:off x="2121408" y="109728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 CPU loop (baseline)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3785616" y="1097280"/>
            <a:ext cx="1536192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/>
        </p:nvSpPr>
        <p:spPr>
          <a:xfrm>
            <a:off x="3785616" y="109728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Copy Host → Device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5449824" y="1097280"/>
            <a:ext cx="1536192" cy="868680"/>
          </a:xfrm>
          <a:prstGeom prst="roundRect">
            <a:avLst>
              <a:gd fmla="val 8421" name="adj"/>
            </a:avLst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 txBox="1"/>
          <p:nvPr/>
        </p:nvSpPr>
        <p:spPr>
          <a:xfrm>
            <a:off x="5449824" y="109728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Launch CUDA kernel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7114032" y="1097280"/>
            <a:ext cx="1536192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 txBox="1"/>
          <p:nvPr/>
        </p:nvSpPr>
        <p:spPr>
          <a:xfrm>
            <a:off x="7114032" y="109728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Copy back &amp; verify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457200" y="2240280"/>
            <a:ext cx="402336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System requirements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640080" y="2697480"/>
            <a:ext cx="3657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 CUDA-capable GPU + driver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CUDA Toolkit (nvcc), compiled with -O2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 10/11 or Linux / WSL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3.8+: matplotlib, numpy, pandas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4663440" y="2240280"/>
            <a:ext cx="402336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 txBox="1"/>
          <p:nvPr/>
        </p:nvSpPr>
        <p:spPr>
          <a:xfrm>
            <a:off x="4846320" y="2331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Speedup definitions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4846320" y="2697480"/>
            <a:ext cx="3657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(end-to-end)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Time ÷ Total CUDA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B5A52"/>
                </a:solidFill>
                <a:latin typeface="Calibri"/>
                <a:ea typeface="Calibri"/>
                <a:cs typeface="Calibri"/>
                <a:sym typeface="Calibri"/>
              </a:rPr>
              <a:t>includes PCIe transfers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(compute-only)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Time ÷ CUDA Kernel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A5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B5A52"/>
                </a:solidFill>
                <a:latin typeface="Calibri"/>
                <a:ea typeface="Calibri"/>
                <a:cs typeface="Calibri"/>
                <a:sym typeface="Calibri"/>
              </a:rPr>
              <a:t>isolates GPU compute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Average Results (5 Iterations)</a:t>
            </a:r>
            <a:endParaRPr sz="2800"/>
          </a:p>
        </p:txBody>
      </p:sp>
      <p:graphicFrame>
        <p:nvGraphicFramePr>
          <p:cNvPr id="99" name="Google Shape;99;p10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{9EE1DC9A-19F4-4A45-8B3B-3577AB71E711}</a:tableStyleId>
              </a:tblPr>
              <a:tblGrid>
                <a:gridCol w="1325875"/>
                <a:gridCol w="1097275"/>
                <a:gridCol w="1188725"/>
                <a:gridCol w="1417325"/>
                <a:gridCol w="1051550"/>
                <a:gridCol w="123445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Size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CPU (ms)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Kernel (ms)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Total CUDA (ms)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Speedup (Total)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Speedup (Kernel)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2.04x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4.72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8.32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8.45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16.27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12.11x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17.43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18.74x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46.18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1.594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9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28.97x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10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25 runs (5 sizes × 5 iterations) produced correct output. Kernel speedup grows with size, while total speedup stays below 1x.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Kernel Speedup Across Iterations</a:t>
            </a:r>
            <a:endParaRPr sz="2800"/>
          </a:p>
        </p:txBody>
      </p:sp>
      <p:graphicFrame>
        <p:nvGraphicFramePr>
          <p:cNvPr id="108" name="Google Shape;108;p11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{9EE1DC9A-19F4-4A45-8B3B-3577AB71E711}</a:tableStyleId>
              </a:tblPr>
              <a:tblGrid>
                <a:gridCol w="1463050"/>
                <a:gridCol w="1005850"/>
                <a:gridCol w="1005850"/>
                <a:gridCol w="1005850"/>
                <a:gridCol w="1005850"/>
                <a:gridCol w="1005850"/>
                <a:gridCol w="1737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Size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1.89x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2.11x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1.64x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2.51x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2.04x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9.15x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6.66x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10.62x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6.85x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13.23x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15.67x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11.53x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8.74x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12.11x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18.70x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18.90x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18.46x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19.69x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17.99x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18.74x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50,000,000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27.73x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29.45x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29.31x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32.53x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0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2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26.14x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66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F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28.97x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2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datasets give more stable results (50M: 26.1x to 32.5x). Small sizes vary more because fixed launch costs and timer noise matter more.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Kernel Speedup Scales with Data Size</a:t>
            </a:r>
            <a:endParaRPr sz="2800"/>
          </a:p>
        </p:txBody>
      </p:sp>
      <p:sp>
        <p:nvSpPr>
          <p:cNvPr id="117" name="Google Shape;117;p12"/>
          <p:cNvSpPr/>
          <p:nvPr/>
        </p:nvSpPr>
        <p:spPr>
          <a:xfrm>
            <a:off x="6217920" y="1188720"/>
            <a:ext cx="2468880" cy="3200400"/>
          </a:xfrm>
          <a:prstGeom prst="roundRect">
            <a:avLst>
              <a:gd fmla="val 296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6217920" y="137160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28.97x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6400800" y="21945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speedup at 50M elements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6400800" y="30175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B5A52"/>
                </a:solidFill>
                <a:latin typeface="Calibri"/>
                <a:ea typeface="Calibri"/>
                <a:cs typeface="Calibri"/>
                <a:sym typeface="Calibri"/>
              </a:rPr>
              <a:t>up from 2.04x at 1M elements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2" title="cuda_speedup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5913124" cy="3285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Execution Time: CPU vs. CUDA</a:t>
            </a:r>
            <a:endParaRPr sz="2800"/>
          </a:p>
        </p:txBody>
      </p:sp>
      <p:sp>
        <p:nvSpPr>
          <p:cNvPr id="129" name="Google Shape;129;p1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kernel alone is far faster than the CPU, but copying data over PCIe pushes total CUDA time above CPU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3" title="cuda_tim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5825" y="914400"/>
            <a:ext cx="5052349" cy="30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lang="en-US"/>
              <a:t>Performance Analysis</a:t>
            </a:r>
            <a:endParaRPr sz="2800"/>
          </a:p>
        </p:txBody>
      </p:sp>
      <p:sp>
        <p:nvSpPr>
          <p:cNvPr id="138" name="Google Shape;138;p14"/>
          <p:cNvSpPr txBox="1"/>
          <p:nvPr>
            <p:ph idx="4294967295" type="sldNum"/>
          </p:nvPr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4" title="cuda_performance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00" y="1075975"/>
            <a:ext cx="7859602" cy="28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Why Total CUDA Time Exceeds CPU Time</a:t>
            </a:r>
            <a:endParaRPr sz="2800"/>
          </a:p>
        </p:txBody>
      </p:sp>
      <p:sp>
        <p:nvSpPr>
          <p:cNvPr id="146" name="Google Shape;146;p15"/>
          <p:cNvSpPr/>
          <p:nvPr/>
        </p:nvSpPr>
        <p:spPr>
          <a:xfrm>
            <a:off x="457200" y="1490075"/>
            <a:ext cx="5589300" cy="1005900"/>
          </a:xfrm>
          <a:prstGeom prst="roundRect">
            <a:avLst>
              <a:gd fmla="val 727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685800" y="1746112"/>
            <a:ext cx="502800" cy="5028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87412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1463047" y="1599800"/>
            <a:ext cx="45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PCIe transfer overhead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463047" y="1947275"/>
            <a:ext cx="458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cudaMemcpy moves data Host → Device → Host across the PCIe bus, with high fixed latency.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457200" y="2961900"/>
            <a:ext cx="5589300" cy="1005900"/>
          </a:xfrm>
          <a:prstGeom prst="roundRect">
            <a:avLst>
              <a:gd fmla="val 727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685800" y="3217944"/>
            <a:ext cx="502800" cy="5028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816" y="33459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1463047" y="3071650"/>
            <a:ext cx="45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 &amp; context setup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463047" y="3419100"/>
            <a:ext cx="458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cudaMalloc, CUDA context initialization and kernel launches add fixed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217920" y="1188720"/>
            <a:ext cx="2469000" cy="3200400"/>
          </a:xfrm>
          <a:prstGeom prst="roundRect">
            <a:avLst>
              <a:gd fmla="val 296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6217920" y="137160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98%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6400800" y="2194560"/>
            <a:ext cx="210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total CUDA time at 50M elements is data transfer and overhead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6400800" y="3291840"/>
            <a:ext cx="210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A5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B5A52"/>
                </a:solidFill>
                <a:latin typeface="Calibri"/>
                <a:ea typeface="Calibri"/>
                <a:cs typeface="Calibri"/>
                <a:sym typeface="Calibri"/>
              </a:rPr>
              <a:t>Only 1 FLOP per element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dk1"/>
                </a:solidFill>
              </a:rPr>
              <a:t>Why Compare Kernel Time vs. CPU Time?</a:t>
            </a:r>
            <a:endParaRPr sz="2800"/>
          </a:p>
        </p:txBody>
      </p:sp>
      <p:sp>
        <p:nvSpPr>
          <p:cNvPr id="167" name="Google Shape;167;p16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fmla="val 727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685800" y="135331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" y="148132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1463040" y="120700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parallel capability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1463040" y="155448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the true compute potential of thousands of GPU threads, without bus-transfer noise.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57200" y="2267712"/>
            <a:ext cx="8229600" cy="1005840"/>
          </a:xfrm>
          <a:prstGeom prst="roundRect">
            <a:avLst>
              <a:gd fmla="val 727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685800" y="2523744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816" y="26517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1463040" y="237744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potential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1463040" y="2724912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how massively parallel hardware handles element-wise work once data is in high-bandwidth VRAM.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57200" y="3438144"/>
            <a:ext cx="8229600" cy="1005840"/>
          </a:xfrm>
          <a:prstGeom prst="roundRect">
            <a:avLst>
              <a:gd fmla="val 727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685800" y="3694176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" y="382219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1463040" y="354787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Optimization guidance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463040" y="389534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Reveals whether an application is limited by compute density or by PCIe bandwidth.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lang="en-US">
                <a:solidFill>
                  <a:schemeClr val="dk1"/>
                </a:solidFill>
              </a:rPr>
              <a:t>Conclusion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457200" y="1143000"/>
            <a:ext cx="4023300" cy="1554600"/>
          </a:xfrm>
          <a:prstGeom prst="roundRect">
            <a:avLst>
              <a:gd fmla="val 4706" name="adj"/>
            </a:avLst>
          </a:prstGeom>
          <a:solidFill>
            <a:srgbClr val="26382D"/>
          </a:solidFill>
          <a:ln cap="flat" cmpd="sng" w="12700">
            <a:solidFill>
              <a:srgbClr val="26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85800" y="132588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28.97x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85800" y="20574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kernel speedup at 50M elements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fmla="val 4706" name="adj"/>
            </a:avLst>
          </a:prstGeom>
          <a:solidFill>
            <a:srgbClr val="26382D"/>
          </a:solidFill>
          <a:ln cap="flat" cmpd="sng" w="12700">
            <a:solidFill>
              <a:srgbClr val="26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4892040" y="132588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2.04x → 28.97x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4892040" y="20574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kernel speedup, 1M to 50M elements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fmla="val 4706" name="adj"/>
            </a:avLst>
          </a:prstGeom>
          <a:solidFill>
            <a:srgbClr val="26382D"/>
          </a:solidFill>
          <a:ln cap="flat" cmpd="sng" w="12700">
            <a:solidFill>
              <a:srgbClr val="26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85800" y="30632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~98%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85800" y="3794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CUDA time is transfer at 50M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fmla="val 4706" name="adj"/>
            </a:avLst>
          </a:prstGeom>
          <a:solidFill>
            <a:srgbClr val="26382D"/>
          </a:solidFill>
          <a:ln cap="flat" cmpd="sng" w="12700">
            <a:solidFill>
              <a:srgbClr val="26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892040" y="30632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&lt; 1x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4892040" y="3794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end-to-end speedup (0.43x to 0.58x)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4294967295" type="sldNum"/>
          </p:nvPr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>
            <p:ph type="title"/>
          </p:nvPr>
        </p:nvSpPr>
        <p:spPr>
          <a:xfrm>
            <a:off x="1658825" y="1474150"/>
            <a:ext cx="5581800" cy="19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lang="en-US" sz="6700">
                <a:solidFill>
                  <a:schemeClr val="dk1"/>
                </a:solidFill>
              </a:rPr>
              <a:t>Thank you</a:t>
            </a:r>
            <a:endParaRPr sz="6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DA Experiment">
  <a:themeElements>
    <a:clrScheme name="CUDA Experiment">
      <a:dk1>
        <a:srgbClr val="14201A"/>
      </a:dk1>
      <a:lt1>
        <a:srgbClr val="FFFFFF"/>
      </a:lt1>
      <a:dk2>
        <a:srgbClr val="1B2B22"/>
      </a:dk2>
      <a:lt2>
        <a:srgbClr val="F1F5F2"/>
      </a:lt2>
      <a:accent1>
        <a:srgbClr val="76B900"/>
      </a:accent1>
      <a:accent2>
        <a:srgbClr val="4F7A00"/>
      </a:accent2>
      <a:accent3>
        <a:srgbClr val="8A9A91"/>
      </a:accent3>
      <a:accent4>
        <a:srgbClr val="F59E0B"/>
      </a:accent4>
      <a:accent5>
        <a:srgbClr val="0E7490"/>
      </a:accent5>
      <a:accent6>
        <a:srgbClr val="B91C1C"/>
      </a:accent6>
      <a:hlink>
        <a:srgbClr val="0E7490"/>
      </a:hlink>
      <a:folHlink>
        <a:srgbClr val="8A9A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DA Experiment">
  <a:themeElements>
    <a:clrScheme name="CUDA Experiment">
      <a:dk1>
        <a:srgbClr val="14201A"/>
      </a:dk1>
      <a:lt1>
        <a:srgbClr val="FFFFFF"/>
      </a:lt1>
      <a:dk2>
        <a:srgbClr val="1B2B22"/>
      </a:dk2>
      <a:lt2>
        <a:srgbClr val="F1F5F2"/>
      </a:lt2>
      <a:accent1>
        <a:srgbClr val="76B900"/>
      </a:accent1>
      <a:accent2>
        <a:srgbClr val="4F7A00"/>
      </a:accent2>
      <a:accent3>
        <a:srgbClr val="8A9A91"/>
      </a:accent3>
      <a:accent4>
        <a:srgbClr val="F59E0B"/>
      </a:accent4>
      <a:accent5>
        <a:srgbClr val="0E7490"/>
      </a:accent5>
      <a:accent6>
        <a:srgbClr val="B91C1C"/>
      </a:accent6>
      <a:hlink>
        <a:srgbClr val="0E7490"/>
      </a:hlink>
      <a:folHlink>
        <a:srgbClr val="8A9A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